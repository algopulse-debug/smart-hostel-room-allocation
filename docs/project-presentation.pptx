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3" r:id="rId5"/>
    <p:sldId id="266" r:id="rId6"/>
    <p:sldId id="267" r:id="rId7"/>
    <p:sldId id="270" r:id="rId8"/>
    <p:sldId id="259" r:id="rId9"/>
    <p:sldId id="272" r:id="rId10"/>
    <p:sldId id="273" r:id="rId11"/>
    <p:sldId id="265" r:id="rId12"/>
    <p:sldId id="264" r:id="rId13"/>
    <p:sldId id="274" r:id="rId14"/>
    <p:sldId id="268" r:id="rId15"/>
    <p:sldId id="271" r:id="rId16"/>
    <p:sldId id="261" r:id="rId17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18" autoAdjust="0"/>
  </p:normalViewPr>
  <p:slideViewPr>
    <p:cSldViewPr snapToGrid="0">
      <p:cViewPr varScale="1">
        <p:scale>
          <a:sx n="83" d="100"/>
          <a:sy n="83" d="100"/>
        </p:scale>
        <p:origin x="4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3712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Google Shape;11;p2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902515" y="169655"/>
            <a:ext cx="5143503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58000" y="4116847"/>
            <a:ext cx="2544161" cy="461284"/>
          </a:xfrm>
          <a:prstGeom prst="rect">
            <a:avLst/>
          </a:prstGeom>
        </p:spPr>
        <p:txBody>
          <a:bodyPr/>
          <a:lstStyle>
            <a:lvl1pPr algn="l"/>
            <a:lvl2pPr algn="l"/>
            <a:lvl3pPr algn="l"/>
            <a:lvl4pPr algn="l"/>
            <a:lvl5pPr algn="l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5;p3" descr="Google Shape;15;p3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245" y="143151"/>
            <a:ext cx="5143502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Google Shape;16;p3"/>
          <p:cNvSpPr/>
          <p:nvPr/>
        </p:nvSpPr>
        <p:spPr>
          <a:xfrm>
            <a:off x="0" y="4614450"/>
            <a:ext cx="9021158" cy="492414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22" name="Google Shape;18;p3"/>
          <p:cNvSpPr txBox="1"/>
          <p:nvPr/>
        </p:nvSpPr>
        <p:spPr>
          <a:xfrm>
            <a:off x="6992460" y="4188659"/>
            <a:ext cx="2628901" cy="46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pic>
        <p:nvPicPr>
          <p:cNvPr id="23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687" y="36638"/>
            <a:ext cx="1127507" cy="1127506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311698" y="445025"/>
            <a:ext cx="8520604" cy="572703"/>
          </a:xfrm>
          <a:prstGeom prst="rect">
            <a:avLst/>
          </a:prstGeom>
        </p:spPr>
        <p:txBody>
          <a:bodyPr anchor="t"/>
          <a:lstStyle>
            <a:lvl1pPr algn="l">
              <a:defRPr sz="2800"/>
            </a:lvl1pPr>
          </a:lstStyle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8" y="1152475"/>
            <a:ext cx="3999904" cy="3416400"/>
          </a:xfrm>
          <a:prstGeom prst="rect">
            <a:avLst/>
          </a:prstGeom>
        </p:spPr>
        <p:txBody>
          <a:bodyPr/>
          <a:lstStyle>
            <a:lvl1pPr indent="-317500" algn="l">
              <a:buSzPts val="1400"/>
              <a:defRPr sz="1400"/>
            </a:lvl1pPr>
            <a:lvl2pPr marL="965200" indent="-355600" algn="l">
              <a:buSzPts val="1400"/>
              <a:defRPr sz="1400"/>
            </a:lvl2pPr>
            <a:lvl3pPr marL="1422400" indent="-355600" algn="l">
              <a:buSzPts val="1400"/>
              <a:defRPr sz="1400"/>
            </a:lvl3pPr>
            <a:lvl4pPr marL="1879600" indent="-355600" algn="l">
              <a:buSzPts val="1400"/>
              <a:defRPr sz="1400"/>
            </a:lvl4pPr>
            <a:lvl5pPr marL="2336800" indent="-355600" algn="l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Google Shape;22;p4"/>
          <p:cNvSpPr txBox="1">
            <a:spLocks noGrp="1"/>
          </p:cNvSpPr>
          <p:nvPr>
            <p:ph type="body" sz="half" idx="21"/>
          </p:nvPr>
        </p:nvSpPr>
        <p:spPr>
          <a:xfrm>
            <a:off x="4832398" y="1152475"/>
            <a:ext cx="3999904" cy="34164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xfrm>
            <a:off x="311698" y="445025"/>
            <a:ext cx="8520604" cy="572703"/>
          </a:xfrm>
          <a:prstGeom prst="rect">
            <a:avLst/>
          </a:prstGeom>
        </p:spPr>
        <p:txBody>
          <a:bodyPr anchor="t"/>
          <a:lstStyle>
            <a:lvl1pPr algn="l">
              <a:defRPr sz="2800"/>
            </a:lvl1pPr>
          </a:lstStyle>
          <a:p>
            <a:r>
              <a:t>Title Text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xfrm>
            <a:off x="311698" y="555600"/>
            <a:ext cx="2808004" cy="7557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8" y="1389598"/>
            <a:ext cx="2808004" cy="3179404"/>
          </a:xfrm>
          <a:prstGeom prst="rect">
            <a:avLst/>
          </a:prstGeom>
        </p:spPr>
        <p:txBody>
          <a:bodyPr/>
          <a:lstStyle>
            <a:lvl1pPr indent="-304800" algn="l">
              <a:buSzPts val="1200"/>
              <a:defRPr sz="1200"/>
            </a:lvl1pPr>
            <a:lvl2pPr marL="914400" indent="-304800" algn="l">
              <a:buSzPts val="1200"/>
              <a:defRPr sz="1200"/>
            </a:lvl2pPr>
            <a:lvl3pPr marL="1371600" indent="-304800" algn="l">
              <a:buSzPts val="1200"/>
              <a:defRPr sz="1200"/>
            </a:lvl3pPr>
            <a:lvl4pPr marL="1828800" indent="-304800" algn="l">
              <a:buSzPts val="1200"/>
              <a:defRPr sz="1200"/>
            </a:lvl4pPr>
            <a:lvl5pPr marL="2286000" indent="-304800" algn="l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xfrm>
            <a:off x="490250" y="450148"/>
            <a:ext cx="6367801" cy="4090804"/>
          </a:xfrm>
          <a:prstGeom prst="rect">
            <a:avLst/>
          </a:prstGeom>
        </p:spPr>
        <p:txBody>
          <a:bodyPr anchor="ctr"/>
          <a:lstStyle>
            <a:lvl1pPr algn="l"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35;p8"/>
          <p:cNvSpPr/>
          <p:nvPr/>
        </p:nvSpPr>
        <p:spPr>
          <a:xfrm>
            <a:off x="4572000" y="-127"/>
            <a:ext cx="4572000" cy="5143505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114300" indent="0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114300" indent="114300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114300" indent="114300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114300" indent="114300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114300" indent="114300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Google Shape;38;p8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8" y="4230575"/>
            <a:ext cx="5998804" cy="605103"/>
          </a:xfrm>
          <a:prstGeom prst="rect">
            <a:avLst/>
          </a:prstGeom>
        </p:spPr>
        <p:txBody>
          <a:bodyPr anchor="ctr"/>
          <a:lstStyle>
            <a:lvl1pPr marL="0" indent="228600" algn="l">
              <a:lnSpc>
                <a:spcPct val="100000"/>
              </a:lnSpc>
              <a:buClrTx/>
              <a:buSzTx/>
              <a:buFontTx/>
              <a:buNone/>
            </a:lvl1pPr>
            <a:lvl2pPr marL="1233714" indent="-408213" algn="l">
              <a:lnSpc>
                <a:spcPct val="100000"/>
              </a:lnSpc>
              <a:buClrTx/>
              <a:buFontTx/>
            </a:lvl2pPr>
            <a:lvl3pPr marL="1690914" algn="l">
              <a:lnSpc>
                <a:spcPct val="100000"/>
              </a:lnSpc>
              <a:buClrTx/>
              <a:buFontTx/>
            </a:lvl3pPr>
            <a:lvl4pPr marL="2148114" algn="l">
              <a:lnSpc>
                <a:spcPct val="100000"/>
              </a:lnSpc>
              <a:buClrTx/>
              <a:buFontTx/>
            </a:lvl4pPr>
            <a:lvl5pPr marL="2605314" algn="l"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xx%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xx%</a:t>
            </a:r>
          </a:p>
        </p:txBody>
      </p:sp>
      <p:sp>
        <p:nvSpPr>
          <p:cNvPr id="86" name="Body Level One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xfrm>
            <a:off x="1376774" y="445025"/>
            <a:ext cx="6390453" cy="572703"/>
          </a:xfrm>
          <a:prstGeom prst="rect">
            <a:avLst/>
          </a:prstGeom>
        </p:spPr>
        <p:txBody>
          <a:bodyPr lIns="68566" tIns="68566" rIns="68566" bIns="68566" anchor="t"/>
          <a:lstStyle>
            <a:lvl1pPr defTabSz="685800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xfrm>
            <a:off x="1376774" y="1152474"/>
            <a:ext cx="6390453" cy="3416402"/>
          </a:xfrm>
          <a:prstGeom prst="rect">
            <a:avLst/>
          </a:prstGeom>
        </p:spPr>
        <p:txBody>
          <a:bodyPr lIns="68566" tIns="68566" rIns="68566" bIns="68566"/>
          <a:lstStyle>
            <a:lvl1pPr marL="371475" indent="-257175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69042" indent="-272142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indent="-317500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92300" indent="-381000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349500" indent="-381000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643173" y="4734213"/>
            <a:ext cx="265697" cy="251609"/>
          </a:xfrm>
          <a:prstGeom prst="rect">
            <a:avLst/>
          </a:prstGeom>
        </p:spPr>
        <p:txBody>
          <a:bodyPr lIns="68566" tIns="68566" rIns="68566" bIns="68566">
            <a:spAutoFit/>
          </a:bodyPr>
          <a:lstStyle>
            <a:lvl1pPr defTabSz="685800"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1485900" y="205978"/>
            <a:ext cx="6172200" cy="857251"/>
          </a:xfrm>
          <a:prstGeom prst="rect">
            <a:avLst/>
          </a:prstGeom>
        </p:spPr>
        <p:txBody>
          <a:bodyPr lIns="34289" tIns="34289" rIns="34289" bIns="34289" anchor="ctr"/>
          <a:lstStyle>
            <a:lvl1pPr defTabSz="685800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1485900" y="1200150"/>
            <a:ext cx="6172200" cy="3394474"/>
          </a:xfrm>
          <a:prstGeom prst="rect">
            <a:avLst/>
          </a:prstGeom>
        </p:spPr>
        <p:txBody>
          <a:bodyPr lIns="34289" tIns="34289" rIns="34289" bIns="34289"/>
          <a:lstStyle>
            <a:lvl1pPr marL="257175" indent="-257175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02127" indent="-244927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–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228600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45920" indent="-274319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–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03120" indent="-274320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»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460960" y="4812658"/>
            <a:ext cx="197141" cy="183053"/>
          </a:xfrm>
          <a:prstGeom prst="rect">
            <a:avLst/>
          </a:prstGeom>
        </p:spPr>
        <p:txBody>
          <a:bodyPr lIns="34289" tIns="34289" rIns="34289" bIns="34289">
            <a:spAutoFit/>
          </a:bodyPr>
          <a:lstStyle>
            <a:lvl1pPr defTabSz="685800"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5;p3" descr="Google Shape;15;p3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245" y="143151"/>
            <a:ext cx="5143502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Google Shape;16;p3"/>
          <p:cNvSpPr/>
          <p:nvPr/>
        </p:nvSpPr>
        <p:spPr>
          <a:xfrm>
            <a:off x="0" y="4614450"/>
            <a:ext cx="9021158" cy="492414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121" name="Google Shape;18;p3"/>
          <p:cNvSpPr txBox="1"/>
          <p:nvPr/>
        </p:nvSpPr>
        <p:spPr>
          <a:xfrm>
            <a:off x="6992460" y="4188659"/>
            <a:ext cx="2628901" cy="466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1" tIns="91421" rIns="91421" bIns="91421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pic>
        <p:nvPicPr>
          <p:cNvPr id="122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687" y="36638"/>
            <a:ext cx="1127508" cy="1127506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54" y="4700822"/>
            <a:ext cx="336807" cy="318390"/>
          </a:xfrm>
          <a:prstGeom prst="rect">
            <a:avLst/>
          </a:prstGeom>
        </p:spPr>
        <p:txBody>
          <a:bodyPr lIns="91421" tIns="91421" rIns="91421" bIns="91421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5;p8" descr="Google Shape;15;p8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245" y="143151"/>
            <a:ext cx="5143502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Google Shape;16;p8"/>
          <p:cNvSpPr/>
          <p:nvPr/>
        </p:nvSpPr>
        <p:spPr>
          <a:xfrm>
            <a:off x="0" y="4614450"/>
            <a:ext cx="9021158" cy="492414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132" name="Google Shape;17;p8"/>
          <p:cNvSpPr txBox="1"/>
          <p:nvPr/>
        </p:nvSpPr>
        <p:spPr>
          <a:xfrm>
            <a:off x="6992460" y="4188659"/>
            <a:ext cx="2628901" cy="46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pic>
        <p:nvPicPr>
          <p:cNvPr id="133" name="Google Shape;18;p8" descr="Google Shape;18;p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687" y="36638"/>
            <a:ext cx="1127507" cy="1127506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5;p3" descr="Google Shape;15;p3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245" y="143151"/>
            <a:ext cx="5143502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Google Shape;16;p3"/>
          <p:cNvSpPr/>
          <p:nvPr/>
        </p:nvSpPr>
        <p:spPr>
          <a:xfrm>
            <a:off x="0" y="4614450"/>
            <a:ext cx="9021158" cy="492414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pic>
        <p:nvPicPr>
          <p:cNvPr id="143" name="iiitv_logo.pngGoogle Shape;17;p3" descr="iiitv_logo.pngGoogle Shape;17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799" y="-10066"/>
            <a:ext cx="1128203" cy="1128205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Google Shape;18;p3"/>
          <p:cNvSpPr txBox="1"/>
          <p:nvPr/>
        </p:nvSpPr>
        <p:spPr>
          <a:xfrm>
            <a:off x="6810925" y="3972926"/>
            <a:ext cx="2628903" cy="46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;p3" descr="Google Shape;15;p3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077" y="143280"/>
            <a:ext cx="5142965" cy="514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Google Shape;16;p3"/>
          <p:cNvSpPr/>
          <p:nvPr/>
        </p:nvSpPr>
        <p:spPr>
          <a:xfrm>
            <a:off x="0" y="4614479"/>
            <a:ext cx="9020520" cy="491763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154" name="Google Shape;18;p3"/>
          <p:cNvSpPr txBox="1"/>
          <p:nvPr/>
        </p:nvSpPr>
        <p:spPr>
          <a:xfrm>
            <a:off x="6992639" y="4190038"/>
            <a:ext cx="2628363" cy="463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89999" tIns="89999" rIns="89999" bIns="89999">
            <a:spAutoFit/>
          </a:bodyPr>
          <a:lstStyle>
            <a:lvl1pPr>
              <a:lnSpc>
                <a:spcPct val="115000"/>
              </a:lnSpc>
              <a:spcBef>
                <a:spcPts val="11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pic>
        <p:nvPicPr>
          <p:cNvPr id="15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718" y="36720"/>
            <a:ext cx="1126803" cy="1126801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itle Text"/>
          <p:cNvSpPr txBox="1">
            <a:spLocks noGrp="1"/>
          </p:cNvSpPr>
          <p:nvPr>
            <p:ph type="title"/>
          </p:nvPr>
        </p:nvSpPr>
        <p:spPr>
          <a:xfrm>
            <a:off x="457200" y="205199"/>
            <a:ext cx="8228880" cy="858242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5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  <a:lvl2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2pPr>
            <a:lvl3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3pPr>
            <a:lvl4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4pPr>
            <a:lvl5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3681" y="4700249"/>
            <a:ext cx="336839" cy="318422"/>
          </a:xfrm>
          <a:prstGeom prst="rect">
            <a:avLst/>
          </a:prstGeom>
        </p:spPr>
        <p:txBody>
          <a:bodyPr lIns="91437" tIns="91437" rIns="91437" bIns="91437"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Text"/>
          <p:cNvSpPr txBox="1">
            <a:spLocks noGrp="1"/>
          </p:cNvSpPr>
          <p:nvPr>
            <p:ph type="title"/>
          </p:nvPr>
        </p:nvSpPr>
        <p:spPr>
          <a:xfrm>
            <a:off x="1657350" y="1597817"/>
            <a:ext cx="5829300" cy="1102521"/>
          </a:xfrm>
          <a:prstGeom prst="rect">
            <a:avLst/>
          </a:prstGeom>
        </p:spPr>
        <p:txBody>
          <a:bodyPr lIns="34289" tIns="34289" rIns="34289" bIns="34289" anchor="ctr"/>
          <a:lstStyle>
            <a:lvl1pPr defTabSz="685800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6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71700" y="2914650"/>
            <a:ext cx="4800600" cy="1314450"/>
          </a:xfrm>
          <a:prstGeom prst="rect">
            <a:avLst/>
          </a:prstGeom>
        </p:spPr>
        <p:txBody>
          <a:bodyPr lIns="34289" tIns="34289" rIns="34289" bIns="34289"/>
          <a:lstStyle>
            <a:lvl1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460960" y="4812658"/>
            <a:ext cx="197141" cy="183053"/>
          </a:xfrm>
          <a:prstGeom prst="rect">
            <a:avLst/>
          </a:prstGeom>
        </p:spPr>
        <p:txBody>
          <a:bodyPr lIns="34289" tIns="34289" rIns="34289" bIns="34289">
            <a:spAutoFit/>
          </a:bodyPr>
          <a:lstStyle>
            <a:lvl1pPr defTabSz="685800"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8" y="1106125"/>
            <a:ext cx="8520604" cy="1963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2" tIns="91422" rIns="91422" bIns="91422" anchor="b">
            <a:normAutofit/>
          </a:bodyPr>
          <a:lstStyle/>
          <a:p>
            <a:r>
              <a:t>xx%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8" y="3152225"/>
            <a:ext cx="8520604" cy="130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2" tIns="91422" rIns="91422" bIns="91422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9" y="4700821"/>
            <a:ext cx="336809" cy="318392"/>
          </a:xfrm>
          <a:prstGeom prst="rect">
            <a:avLst/>
          </a:prstGeom>
          <a:ln w="12700">
            <a:miter lim="400000"/>
          </a:ln>
        </p:spPr>
        <p:txBody>
          <a:bodyPr wrap="none" lIns="91422" tIns="91422" rIns="91422" bIns="91422" anchor="ctr">
            <a:normAutofit/>
          </a:bodyPr>
          <a:lstStyle>
            <a:lvl1pPr algn="r">
              <a:defRPr sz="1000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3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6pPr>
      <a:lvl7pPr marL="3291113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7pPr>
      <a:lvl8pPr marL="3748313" marR="0" indent="-408213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8pPr>
      <a:lvl9pPr marL="4205513" marR="0" indent="-408213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/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/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/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/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/>
          <p:cNvSpPr txBox="1"/>
          <p:nvPr/>
        </p:nvSpPr>
        <p:spPr>
          <a:xfrm>
            <a:off x="1188977" y="156051"/>
            <a:ext cx="6766046" cy="466637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Indian Institute of Information Technology Vadodara</a:t>
            </a:r>
          </a:p>
        </p:txBody>
      </p:sp>
      <p:sp>
        <p:nvSpPr>
          <p:cNvPr id="181" name="Google Shape;59;p1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83" name="Google Shape;61;p12"/>
          <p:cNvSpPr txBox="1">
            <a:spLocks noGrp="1"/>
          </p:cNvSpPr>
          <p:nvPr>
            <p:ph type="body" sz="quarter" idx="4294967295"/>
          </p:nvPr>
        </p:nvSpPr>
        <p:spPr>
          <a:xfrm>
            <a:off x="6515100" y="3762375"/>
            <a:ext cx="2628900" cy="4921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>
              <a:spcBef>
                <a:spcPts val="1200"/>
              </a:spcBef>
              <a:buSzTx/>
              <a:buNone/>
              <a:defRPr sz="2000" b="1">
                <a:solidFill>
                  <a:srgbClr val="FF0000"/>
                </a:solidFill>
              </a:defRPr>
            </a:lvl1pPr>
          </a:lstStyle>
          <a:p>
            <a:r>
              <a:rPr dirty="0"/>
              <a:t>IIITV &amp; IIITV-ICD</a:t>
            </a:r>
          </a:p>
        </p:txBody>
      </p:sp>
      <p:pic>
        <p:nvPicPr>
          <p:cNvPr id="182" name="Google Shape;60;p12" descr="Google Shape;60;p12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222043" y="-233785"/>
            <a:ext cx="1646877" cy="16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Picture 2" descr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0784" y="17687"/>
            <a:ext cx="1153358" cy="115335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CC8881-03B4-709A-EA12-5D4954085935}"/>
              </a:ext>
            </a:extLst>
          </p:cNvPr>
          <p:cNvSpPr txBox="1"/>
          <p:nvPr/>
        </p:nvSpPr>
        <p:spPr>
          <a:xfrm>
            <a:off x="526983" y="1161621"/>
            <a:ext cx="7881467" cy="21544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Hostel Room Allocation &amp;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Waiting List Management System</a:t>
            </a:r>
            <a:r>
              <a:rPr kumimoji="0" lang="en-US" sz="2000" b="1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CS-162 Project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Venkata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Phanikrishna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Engineering</a:t>
            </a:r>
            <a:r>
              <a:rPr kumimoji="0" lang="en-US" sz="200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  </a:t>
            </a:r>
            <a:endParaRPr kumimoji="0" lang="en-IN" sz="200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10B1F8-27E3-E974-CC84-7771F139704D}"/>
              </a:ext>
            </a:extLst>
          </p:cNvPr>
          <p:cNvSpPr txBox="1"/>
          <p:nvPr/>
        </p:nvSpPr>
        <p:spPr>
          <a:xfrm>
            <a:off x="750182" y="523934"/>
            <a:ext cx="1288169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r>
              <a:rPr lang="en-IN" dirty="0"/>
              <a:t>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Team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E9B1B-15D7-E64A-9D2F-86E8D9EC997D}"/>
              </a:ext>
            </a:extLst>
          </p:cNvPr>
          <p:cNvSpPr txBox="1"/>
          <p:nvPr/>
        </p:nvSpPr>
        <p:spPr>
          <a:xfrm>
            <a:off x="891430" y="1359413"/>
            <a:ext cx="528817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Pranav 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Borole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20252501015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Parth Chavan – 20252501049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Rahul Kumawat - 20252501061</a:t>
            </a:r>
            <a:endParaRPr lang="en-US" sz="200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C0E7D-55E4-68BF-D66A-03364961640F}"/>
              </a:ext>
            </a:extLst>
          </p:cNvPr>
          <p:cNvSpPr txBox="1"/>
          <p:nvPr/>
        </p:nvSpPr>
        <p:spPr>
          <a:xfrm>
            <a:off x="475785" y="236986"/>
            <a:ext cx="4914605" cy="4101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 / Use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59AE9-7423-B87F-BA0F-A2D6415CB939}"/>
              </a:ext>
            </a:extLst>
          </p:cNvPr>
          <p:cNvSpPr txBox="1"/>
          <p:nvPr/>
        </p:nvSpPr>
        <p:spPr>
          <a:xfrm>
            <a:off x="50224" y="877925"/>
            <a:ext cx="481099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3D746-25EC-E6A5-490C-F506F874B19F}"/>
              </a:ext>
            </a:extLst>
          </p:cNvPr>
          <p:cNvSpPr txBox="1"/>
          <p:nvPr/>
        </p:nvSpPr>
        <p:spPr>
          <a:xfrm>
            <a:off x="542693" y="762745"/>
            <a:ext cx="6672145" cy="948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Smart Hostel Management System is a terminal-based C application that automates the entire lifecycle of hostel room allocation in a college campus. Managing hundreds of student applications manually is error-prone and slow; this system replaces that process with a data-structure-driven engine.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C9A67-D238-49B0-65A8-5E28533D7003}"/>
              </a:ext>
            </a:extLst>
          </p:cNvPr>
          <p:cNvSpPr txBox="1"/>
          <p:nvPr/>
        </p:nvSpPr>
        <p:spPr>
          <a:xfrm>
            <a:off x="401445" y="2312020"/>
            <a:ext cx="7813288" cy="22108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Automated Priority-Based Allocation: 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Rank students by GPA and home distance so the most deserving applicants receive rooms first.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Branch-Specific Room Assignment: 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Each room is tagged to a department (CSE, ECE, AI, MCA, MTech, PhD, or ANY) so students are placed in appropriate accommodation.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Waiting List Management: 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Students who cannot be immediately housed join a circular waiting list and are promoted automatically when a vacancy arises.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CRUD Operations: 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Register, edit, search, and delete student records from anywhere in the system.</a:t>
            </a:r>
          </a:p>
          <a:p>
            <a:pPr>
              <a:buNone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D1775-DC2D-D600-BE21-F756BD492D40}"/>
              </a:ext>
            </a:extLst>
          </p:cNvPr>
          <p:cNvSpPr txBox="1"/>
          <p:nvPr/>
        </p:nvSpPr>
        <p:spPr>
          <a:xfrm>
            <a:off x="542693" y="1826641"/>
            <a:ext cx="4318521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1600" b="1" i="0" u="sng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objectives</a:t>
            </a:r>
            <a:r>
              <a:rPr lang="en-US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82F4D1-F3BC-6700-D0E0-882D7372DBF0}"/>
              </a:ext>
            </a:extLst>
          </p:cNvPr>
          <p:cNvSpPr txBox="1"/>
          <p:nvPr/>
        </p:nvSpPr>
        <p:spPr>
          <a:xfrm>
            <a:off x="617034" y="356840"/>
            <a:ext cx="6701882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buNone/>
            </a:pPr>
            <a:r>
              <a:rPr lang="en-IN" sz="1600" b="1" u="sng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49C6D-33BD-7ED5-2DAC-7E3A451A8DE2}"/>
              </a:ext>
            </a:extLst>
          </p:cNvPr>
          <p:cNvSpPr txBox="1"/>
          <p:nvPr/>
        </p:nvSpPr>
        <p:spPr>
          <a:xfrm>
            <a:off x="512956" y="996176"/>
            <a:ext cx="6701882" cy="19954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College and university hostel management portals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Hospital patient ward allocation systems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Hotel / resort room booking and overflow queuing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Any resource-constrained reservation system requiring fairness-based queuing</a:t>
            </a:r>
          </a:p>
          <a:p>
            <a:pPr>
              <a:buNone/>
            </a:pP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8159239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7834D-DCFE-0E74-E139-F006678FF49A}"/>
              </a:ext>
            </a:extLst>
          </p:cNvPr>
          <p:cNvSpPr txBox="1"/>
          <p:nvPr/>
        </p:nvSpPr>
        <p:spPr>
          <a:xfrm>
            <a:off x="548640" y="236220"/>
            <a:ext cx="4886325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Input and Output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4E61D5-7695-7866-46EA-87D3DA37A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778162"/>
              </p:ext>
            </p:extLst>
          </p:nvPr>
        </p:nvGraphicFramePr>
        <p:xfrm>
          <a:off x="548641" y="1082040"/>
          <a:ext cx="7139940" cy="305561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98498">
                  <a:extLst>
                    <a:ext uri="{9D8B030D-6E8A-4147-A177-3AD203B41FA5}">
                      <a16:colId xmlns:a16="http://schemas.microsoft.com/office/drawing/2014/main" val="3525103533"/>
                    </a:ext>
                  </a:extLst>
                </a:gridCol>
                <a:gridCol w="2531334">
                  <a:extLst>
                    <a:ext uri="{9D8B030D-6E8A-4147-A177-3AD203B41FA5}">
                      <a16:colId xmlns:a16="http://schemas.microsoft.com/office/drawing/2014/main" val="917978046"/>
                    </a:ext>
                  </a:extLst>
                </a:gridCol>
                <a:gridCol w="2710108">
                  <a:extLst>
                    <a:ext uri="{9D8B030D-6E8A-4147-A177-3AD203B41FA5}">
                      <a16:colId xmlns:a16="http://schemas.microsoft.com/office/drawing/2014/main" val="78394233"/>
                    </a:ext>
                  </a:extLst>
                </a:gridCol>
              </a:tblGrid>
              <a:tr h="339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Field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Constraints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extLst>
                  <a:ext uri="{0D108BD9-81ED-4DB2-BD59-A6C34878D82A}">
                    <a16:rowId xmlns:a16="http://schemas.microsoft.com/office/drawing/2014/main" val="701371732"/>
                  </a:ext>
                </a:extLst>
              </a:tr>
              <a:tr h="4276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Enrollment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student identifier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 only; no duplicates allowed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extLst>
                  <a:ext uri="{0D108BD9-81ED-4DB2-BD59-A6C34878D82A}">
                    <a16:rowId xmlns:a16="http://schemas.microsoft.com/office/drawing/2014/main" val="864791489"/>
                  </a:ext>
                </a:extLst>
              </a:tr>
              <a:tr h="4276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Student's full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Non-empty string, up to 64 characters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extLst>
                  <a:ext uri="{0D108BD9-81ED-4DB2-BD59-A6C34878D82A}">
                    <a16:rowId xmlns:a16="http://schemas.microsoft.com/office/drawing/2014/main" val="2825133544"/>
                  </a:ext>
                </a:extLst>
              </a:tr>
              <a:tr h="530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Student's department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 / ECE / AI / MCA / MTECH / PHD / ANY (case-insensitive)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extLst>
                  <a:ext uri="{0D108BD9-81ED-4DB2-BD59-A6C34878D82A}">
                    <a16:rowId xmlns:a16="http://schemas.microsoft.com/office/drawing/2014/main" val="4277400542"/>
                  </a:ext>
                </a:extLst>
              </a:tr>
              <a:tr h="300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Point Average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Float, 0.0 – 10.0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extLst>
                  <a:ext uri="{0D108BD9-81ED-4DB2-BD59-A6C34878D82A}">
                    <a16:rowId xmlns:a16="http://schemas.microsoft.com/office/drawing/2014/main" val="1104107454"/>
                  </a:ext>
                </a:extLst>
              </a:tr>
              <a:tr h="300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(km)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from home to college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Integer, 0 – 99,999 km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extLst>
                  <a:ext uri="{0D108BD9-81ED-4DB2-BD59-A6C34878D82A}">
                    <a16:rowId xmlns:a16="http://schemas.microsoft.com/office/drawing/2014/main" val="3159888247"/>
                  </a:ext>
                </a:extLst>
              </a:tr>
              <a:tr h="4276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 Number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 to vacate or operate 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matching an existing room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extLst>
                  <a:ext uri="{0D108BD9-81ED-4DB2-BD59-A6C34878D82A}">
                    <a16:rowId xmlns:a16="http://schemas.microsoft.com/office/drawing/2014/main" val="3251219977"/>
                  </a:ext>
                </a:extLst>
              </a:tr>
              <a:tr h="300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 Choice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Navigation input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matching a listed option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397" marR="42397" marT="28264" marB="28264"/>
                </a:tc>
                <a:extLst>
                  <a:ext uri="{0D108BD9-81ED-4DB2-BD59-A6C34878D82A}">
                    <a16:rowId xmlns:a16="http://schemas.microsoft.com/office/drawing/2014/main" val="145750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79630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559672-680C-D164-B4EB-DE43CD6D68F1}"/>
              </a:ext>
            </a:extLst>
          </p:cNvPr>
          <p:cNvSpPr txBox="1"/>
          <p:nvPr/>
        </p:nvSpPr>
        <p:spPr>
          <a:xfrm>
            <a:off x="381000" y="243840"/>
            <a:ext cx="6837045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600" b="1" u="sng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Expected Output:</a:t>
            </a:r>
            <a:endParaRPr lang="en-IN" sz="1600" u="sng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38201-9825-967F-E101-DC8755DC129E}"/>
              </a:ext>
            </a:extLst>
          </p:cNvPr>
          <p:cNvSpPr txBox="1"/>
          <p:nvPr/>
        </p:nvSpPr>
        <p:spPr>
          <a:xfrm>
            <a:off x="228600" y="1013460"/>
            <a:ext cx="7795260" cy="2641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Room Allocation: 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Student is extracted from the max-heap and assigned to a branch-matching room; confirmation with room number and occupancy ratio is displayed.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Waitlist Notice: 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If no matching room is available, student is enqueued with a WAITLISTED message.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Auto-Promotion: 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When a room becomes available (vacate or new room added), a matching waitlisted student is promoted automatically.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Reports: 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Room status table, pending-applications heap listing, waiting-list queue, and branch-wise summary table.</a:t>
            </a:r>
          </a:p>
          <a:p>
            <a:pPr>
              <a:buNone/>
            </a:pP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0670876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905FF9-9ACF-738C-9F0E-2D6F384516E5}"/>
              </a:ext>
            </a:extLst>
          </p:cNvPr>
          <p:cNvSpPr txBox="1"/>
          <p:nvPr/>
        </p:nvSpPr>
        <p:spPr>
          <a:xfrm>
            <a:off x="381000" y="137160"/>
            <a:ext cx="6837045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Process Flow Diagram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1DBAEF-7476-65A5-FF42-F014C15717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21"/>
          <a:stretch>
            <a:fillRect/>
          </a:stretch>
        </p:blipFill>
        <p:spPr bwMode="auto">
          <a:xfrm>
            <a:off x="742881" y="537270"/>
            <a:ext cx="7003499" cy="39935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219120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5B6E4-41F3-5EE8-8D5C-6E59D2FE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EE3639-9467-896E-BD90-16DCED2C0D6B}"/>
              </a:ext>
            </a:extLst>
          </p:cNvPr>
          <p:cNvSpPr txBox="1"/>
          <p:nvPr/>
        </p:nvSpPr>
        <p:spPr>
          <a:xfrm>
            <a:off x="113355" y="86395"/>
            <a:ext cx="715041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7000" marR="127000"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000" b="1" kern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Explanation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AAFB2-42CA-C640-D506-72A2DD814411}"/>
              </a:ext>
            </a:extLst>
          </p:cNvPr>
          <p:cNvSpPr txBox="1"/>
          <p:nvPr/>
        </p:nvSpPr>
        <p:spPr>
          <a:xfrm>
            <a:off x="236220" y="434850"/>
            <a:ext cx="7864911" cy="1446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System Initialisation  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initSystem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program starts,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initSystem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allocates memory for the three core data structures using malloc(). Six default rooms are created (one per branch), each appended to the doubly linked list. The max-heap and circular queue begin empty. If any malloc() call fails, the program exits gracefully with an error message.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used: Doubly Linked List for room registry.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Dynamic memory allocation with full validation.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C13756-8A0D-71E9-B846-201D56976481}"/>
              </a:ext>
            </a:extLst>
          </p:cNvPr>
          <p:cNvSpPr txBox="1"/>
          <p:nvPr/>
        </p:nvSpPr>
        <p:spPr>
          <a:xfrm>
            <a:off x="236220" y="2286427"/>
            <a:ext cx="813054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18CED-A354-1E1B-9833-05503EA518F2}"/>
              </a:ext>
            </a:extLst>
          </p:cNvPr>
          <p:cNvSpPr txBox="1"/>
          <p:nvPr/>
        </p:nvSpPr>
        <p:spPr>
          <a:xfrm>
            <a:off x="307258" y="1643029"/>
            <a:ext cx="7515922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AFEA9-4AD9-E17E-93E4-751F1572C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2" y="1806129"/>
            <a:ext cx="5138110" cy="2380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26461E-A0ED-13B0-FD45-65836178E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24" y="2251687"/>
            <a:ext cx="3805641" cy="97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9463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949FC5-673E-BD9B-9294-9F300A666B2F}"/>
              </a:ext>
            </a:extLst>
          </p:cNvPr>
          <p:cNvSpPr txBox="1"/>
          <p:nvPr/>
        </p:nvSpPr>
        <p:spPr>
          <a:xfrm>
            <a:off x="74341" y="0"/>
            <a:ext cx="7140497" cy="16825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buNone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 — Student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enters student details (ID, name, branch, GPA, distance).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validates each input; invalid entries are re-entered without returning to menu.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is checked for uniqueness across all records.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score is calculated: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= (GPA × 10) + (Distance ÷ 100)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is inserted into a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max-heap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heapInsert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maintaining order via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shiftUp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Concepts used: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Binary Max-Heap, priority-based ordering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D11396-B22E-7690-0176-6FFA5AFD9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239" y="3259541"/>
            <a:ext cx="2770753" cy="1376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13FE02-570F-E2B2-F13F-6ACD27BF6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742" y="1195591"/>
            <a:ext cx="3225423" cy="2071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8501A1-18D6-E331-5D74-2574A4962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40" y="1878994"/>
            <a:ext cx="374384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4431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750F19-8A6A-4568-C7B7-9B86BB34A81C}"/>
              </a:ext>
            </a:extLst>
          </p:cNvPr>
          <p:cNvSpPr txBox="1"/>
          <p:nvPr/>
        </p:nvSpPr>
        <p:spPr>
          <a:xfrm>
            <a:off x="151140" y="0"/>
            <a:ext cx="7915984" cy="18671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buNone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 — </a:t>
            </a: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Allocation</a:t>
            </a:r>
            <a:endParaRPr lang="en-IN" sz="1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allocation, the highest-priority student is removed from the heap using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heapExtractMax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heap is fixed using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shiftDown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findAvailableRoom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scans rooms (doubly linked list) to find a suitable match: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must match (or be ANY).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with the most occupants (but not full) is preferred.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room is found → student is added to its occupant list.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room is available → student is added to the waiting list (circular queue).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Concepts used: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 extraction,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shiftDown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room optimization, enqueue</a:t>
            </a:r>
            <a:r>
              <a:rPr lang="en-US" sz="12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18C76-ABE0-4E80-AD57-6DF804F4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32" y="1896144"/>
            <a:ext cx="3562807" cy="2656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E719A4-A7CF-1446-0296-0F85F0082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709" y="2193781"/>
            <a:ext cx="4131226" cy="192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8386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1C5910-9567-68F7-BC12-6DE0419C7D0A}"/>
              </a:ext>
            </a:extLst>
          </p:cNvPr>
          <p:cNvSpPr txBox="1"/>
          <p:nvPr/>
        </p:nvSpPr>
        <p:spPr>
          <a:xfrm>
            <a:off x="98241" y="0"/>
            <a:ext cx="7976729" cy="20826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buNone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 — Waiting List Management(Circular Queue)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list is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circular queue (50 students)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front/rear pointers with modulo wrap-around and a count variable.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order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two cases: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room is vacated → first matching student in queue is promoted.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new room is added → queue students are auto-allocated to fill available seats.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removal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queueRemoveAt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done by copying elements (except target) to maintain order.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Concepts used: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Circular queue, FIFO, modulo indexing, in-place removal.</a:t>
            </a:r>
          </a:p>
          <a:p>
            <a:pPr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4917A-9C78-0139-37C9-35F9B6B4E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04" y="1907490"/>
            <a:ext cx="3539408" cy="2575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67E192-1E6C-57FF-DAFD-41CE9D681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21" y="1856862"/>
            <a:ext cx="4652716" cy="245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3692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554144-8207-1B18-8EBB-7B417938A248}"/>
              </a:ext>
            </a:extLst>
          </p:cNvPr>
          <p:cNvSpPr txBox="1"/>
          <p:nvPr/>
        </p:nvSpPr>
        <p:spPr>
          <a:xfrm>
            <a:off x="196484" y="75570"/>
            <a:ext cx="7023002" cy="16825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 —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Edit, Search, and Delete  (Utility Operations)</a:t>
            </a:r>
            <a:endParaRPr lang="en-IN" sz="1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operations search across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rooms, heap, and waiting list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editStudent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Updates details, recalculates priority, and restores heap using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shiftUp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shiftDown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(if in heap).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searchStudent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case-insensitive partial matching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strCaseStr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on name and ID across all stores.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deleteStudent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Confirms deletion, removes from the respective structure; heap uses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heapRemoveAt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with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reheapification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Concepts used: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Traversal, heap reordering, circular queue indexing.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EF9032-F791-4380-FDCD-991358B2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4" y="1819363"/>
            <a:ext cx="4449763" cy="2352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AB3CD6-0852-8AF8-493D-7A0A3BFC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113" y="1513832"/>
            <a:ext cx="4220317" cy="272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4618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DB90E9-8690-7885-A04B-258337B1C389}"/>
              </a:ext>
            </a:extLst>
          </p:cNvPr>
          <p:cNvSpPr txBox="1"/>
          <p:nvPr/>
        </p:nvSpPr>
        <p:spPr>
          <a:xfrm>
            <a:off x="241825" y="68013"/>
            <a:ext cx="6973244" cy="13131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 —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viewRooms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Traverses rooms (DLL) and shows room details + occupants.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viewWaitingList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students in FIFO order from the circular queue.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viewPending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heap array (not sorted), with top-priority student at index 0 highlighted.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branchSummary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Aggregates and displays total rooms, capacity, and occupancy per branch.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Concepts used: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Traversal, aggregation, queue order, heap representation</a:t>
            </a:r>
            <a:r>
              <a:rPr lang="en-US" sz="12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255B5-CBC0-4C33-98C1-0BCB47ED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" y="1547814"/>
            <a:ext cx="3903051" cy="2744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856F63-BBE4-5DF4-B9D0-A33B6FE3E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852" y="1845325"/>
            <a:ext cx="4769665" cy="16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6913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4B959B-9451-6889-77A0-ED19A1B131D2}"/>
              </a:ext>
            </a:extLst>
          </p:cNvPr>
          <p:cNvSpPr txBox="1"/>
          <p:nvPr/>
        </p:nvSpPr>
        <p:spPr>
          <a:xfrm>
            <a:off x="211597" y="158699"/>
            <a:ext cx="7316963" cy="12969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7 —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Exit  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destroySystem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option 0 calls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destroySystem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which walks the doubly linked list and frees every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OccupantNode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every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RoomNode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heap and circular queue structures are then freed as well, leaving no memory leaks. This deliberate cleanup is enforced as a project constraint.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used: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Recursive/iterative memory deallocation, preventing memory leaks.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51540-232A-83FF-9047-48A582194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55" y="1455667"/>
            <a:ext cx="3931467" cy="301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2544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EAD0FB-7F16-E1D0-5A3A-F84C37267ED1}"/>
              </a:ext>
            </a:extLst>
          </p:cNvPr>
          <p:cNvSpPr txBox="1"/>
          <p:nvPr/>
        </p:nvSpPr>
        <p:spPr>
          <a:xfrm>
            <a:off x="419100" y="129540"/>
            <a:ext cx="5633085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Data Structures Used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20D2CC-8EEE-BF7D-1624-95D76B3D2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458992"/>
              </p:ext>
            </p:extLst>
          </p:nvPr>
        </p:nvGraphicFramePr>
        <p:xfrm>
          <a:off x="419100" y="853441"/>
          <a:ext cx="6385562" cy="327834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54309">
                  <a:extLst>
                    <a:ext uri="{9D8B030D-6E8A-4147-A177-3AD203B41FA5}">
                      <a16:colId xmlns:a16="http://schemas.microsoft.com/office/drawing/2014/main" val="2243754358"/>
                    </a:ext>
                  </a:extLst>
                </a:gridCol>
                <a:gridCol w="1432181">
                  <a:extLst>
                    <a:ext uri="{9D8B030D-6E8A-4147-A177-3AD203B41FA5}">
                      <a16:colId xmlns:a16="http://schemas.microsoft.com/office/drawing/2014/main" val="3109056821"/>
                    </a:ext>
                  </a:extLst>
                </a:gridCol>
                <a:gridCol w="1880455">
                  <a:extLst>
                    <a:ext uri="{9D8B030D-6E8A-4147-A177-3AD203B41FA5}">
                      <a16:colId xmlns:a16="http://schemas.microsoft.com/office/drawing/2014/main" val="3228422878"/>
                    </a:ext>
                  </a:extLst>
                </a:gridCol>
                <a:gridCol w="1718617">
                  <a:extLst>
                    <a:ext uri="{9D8B030D-6E8A-4147-A177-3AD203B41FA5}">
                      <a16:colId xmlns:a16="http://schemas.microsoft.com/office/drawing/2014/main" val="428993041"/>
                    </a:ext>
                  </a:extLst>
                </a:gridCol>
              </a:tblGrid>
              <a:tr h="2888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Complexity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extLst>
                  <a:ext uri="{0D108BD9-81ED-4DB2-BD59-A6C34878D82A}">
                    <a16:rowId xmlns:a16="http://schemas.microsoft.com/office/drawing/2014/main" val="750178553"/>
                  </a:ext>
                </a:extLst>
              </a:tr>
              <a:tr h="623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Doubly Linked List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RoomNode with prev + next pointers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 registry; O(1) append via tail pointer; O(n) branch search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Insert: O(1) Search: O(n) Delete: O(n)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extLst>
                  <a:ext uri="{0D108BD9-81ED-4DB2-BD59-A6C34878D82A}">
                    <a16:rowId xmlns:a16="http://schemas.microsoft.com/office/drawing/2014/main" val="3484834301"/>
                  </a:ext>
                </a:extLst>
              </a:tr>
              <a:tr h="814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Singly Linked List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OccupantNode with next pointer, nested inside each RoomNode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Occupant list per room; O(1) append via tail scan; O(n) removal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Insert: O(n) Delete: O(n)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extLst>
                  <a:ext uri="{0D108BD9-81ED-4DB2-BD59-A6C34878D82A}">
                    <a16:rowId xmlns:a16="http://schemas.microsoft.com/office/drawing/2014/main" val="3204061632"/>
                  </a:ext>
                </a:extLst>
              </a:tr>
              <a:tr h="814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Max-Heap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of Student[100]; manual shiftUp/shiftDown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queue for pending applications; highest-score student always at index 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Insert: O(log n) Extract: O(log n) Peek: O(1)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extLst>
                  <a:ext uri="{0D108BD9-81ED-4DB2-BD59-A6C34878D82A}">
                    <a16:rowId xmlns:a16="http://schemas.microsoft.com/office/drawing/2014/main" val="678454085"/>
                  </a:ext>
                </a:extLst>
              </a:tr>
              <a:tr h="738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Circular Queue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of Student[50] with front, rear, count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list; FIFO with branch-specific promotion; wrap-around with modulo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Enqueue: O(1) Dequeue: O(1) Scan: O(n)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59" marR="35459" marT="23639" marB="23639"/>
                </a:tc>
                <a:extLst>
                  <a:ext uri="{0D108BD9-81ED-4DB2-BD59-A6C34878D82A}">
                    <a16:rowId xmlns:a16="http://schemas.microsoft.com/office/drawing/2014/main" val="3880073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25195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721BFA-2EE1-3256-29BD-8282063FF26E}"/>
              </a:ext>
            </a:extLst>
          </p:cNvPr>
          <p:cNvSpPr txBox="1"/>
          <p:nvPr/>
        </p:nvSpPr>
        <p:spPr>
          <a:xfrm>
            <a:off x="237892" y="252761"/>
            <a:ext cx="6088567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you learned from this project and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7D8AB-C782-D391-2CD1-70160BD43FAB}"/>
              </a:ext>
            </a:extLst>
          </p:cNvPr>
          <p:cNvSpPr txBox="1"/>
          <p:nvPr/>
        </p:nvSpPr>
        <p:spPr>
          <a:xfrm>
            <a:off x="297365" y="936702"/>
            <a:ext cx="7869788" cy="28931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learned how to use Linked List, Priority Queue (Max-Heap), and Circular Queue in one real project. Each structure has its own purpose and works best in the right situation.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Memory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learned how to use malloc() and free() properly in C so the program does not crash or waste memory.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Problem Solving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learned how to break a big real-world problem (hostel management) into small parts and solve each part using the right data structure.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Input Validation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learned to handle wrong inputs from the user without crashing the program.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Teamwork with 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learned how multiple data structures can work together in one system to give a complete solution.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project helped me understand how the concepts taught in CS162 are used to build real, working software.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93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solidFill>
            <a:schemeClr val="accent1"/>
          </a:solidFill>
          <a:miter lim="400000"/>
        </a:ln>
        <a:effectLst/>
        <a:sp3d/>
      </a:spPr>
      <a:bodyPr wrap="square">
        <a:spAutoFit/>
      </a:bodyPr>
      <a:lstStyle>
        <a:defPPr algn="l">
          <a:defRPr b="1" i="0" dirty="0" smtClean="0">
            <a:solidFill>
              <a:srgbClr val="222222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1409</Words>
  <Application>Microsoft Office PowerPoint</Application>
  <PresentationFormat>On-screen Show (16:9)</PresentationFormat>
  <Paragraphs>137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VENKATA PHANIKRISHNA BALAM</dc:creator>
  <cp:lastModifiedBy>Parth Chavan</cp:lastModifiedBy>
  <cp:revision>19</cp:revision>
  <dcterms:modified xsi:type="dcterms:W3CDTF">2026-04-08T06:02:00Z</dcterms:modified>
</cp:coreProperties>
</file>